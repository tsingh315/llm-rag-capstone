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18"/>
    <p:sldId id="260" r:id="rId6"/>
    <p:sldId id="268" r:id="rId22"/>
    <p:sldId id="269" r:id="rId23"/>
    <p:sldId id="266" r:id="rId20"/>
    <p:sldId id="261" r:id="rId7"/>
    <p:sldId id="265" r:id="rId19"/>
    <p:sldId id="267" r:id="rId21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jxgbYjccChfboh+PxKghejRKdf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1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8277F1-729D-4533-9937-95B36D51CB5B}" v="2" dt="2026-08-06T07:05:58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zza Maira" userId="d0a25a6f-4008-4c86-8740-27856525f3e1" providerId="ADAL" clId="{A44FACB3-3A32-418A-B1D8-F602B668736A}"/>
    <pc:docChg chg="undo custSel addSld modSld">
      <pc:chgData name="Fizza Maira" userId="d0a25a6f-4008-4c86-8740-27856525f3e1" providerId="ADAL" clId="{A44FACB3-3A32-418A-B1D8-F602B668736A}" dt="2026-08-06T07:13:10.115" v="595" actId="1076"/>
      <pc:docMkLst>
        <pc:docMk/>
      </pc:docMkLst>
      <pc:sldChg chg="modSp mod">
        <pc:chgData name="Fizza Maira" userId="d0a25a6f-4008-4c86-8740-27856525f3e1" providerId="ADAL" clId="{A44FACB3-3A32-418A-B1D8-F602B668736A}" dt="2026-08-06T06:56:31.796" v="66" actId="207"/>
        <pc:sldMkLst>
          <pc:docMk/>
          <pc:sldMk cId="0" sldId="256"/>
        </pc:sldMkLst>
        <pc:spChg chg="mod">
          <ac:chgData name="Fizza Maira" userId="d0a25a6f-4008-4c86-8740-27856525f3e1" providerId="ADAL" clId="{A44FACB3-3A32-418A-B1D8-F602B668736A}" dt="2026-08-06T06:56:31.796" v="66" actId="207"/>
          <ac:spMkLst>
            <pc:docMk/>
            <pc:sldMk cId="0" sldId="256"/>
            <ac:spMk id="94" creationId="{00000000-0000-0000-0000-000000000000}"/>
          </ac:spMkLst>
        </pc:spChg>
      </pc:sldChg>
      <pc:sldChg chg="addSp delSp modSp mod">
        <pc:chgData name="Fizza Maira" userId="d0a25a6f-4008-4c86-8740-27856525f3e1" providerId="ADAL" clId="{A44FACB3-3A32-418A-B1D8-F602B668736A}" dt="2026-08-06T06:59:42.372" v="125" actId="1036"/>
        <pc:sldMkLst>
          <pc:docMk/>
          <pc:sldMk cId="0" sldId="257"/>
        </pc:sldMkLst>
        <pc:spChg chg="add mod">
          <ac:chgData name="Fizza Maira" userId="d0a25a6f-4008-4c86-8740-27856525f3e1" providerId="ADAL" clId="{A44FACB3-3A32-418A-B1D8-F602B668736A}" dt="2026-08-06T06:56:48.518" v="69" actId="122"/>
          <ac:spMkLst>
            <pc:docMk/>
            <pc:sldMk cId="0" sldId="257"/>
            <ac:spMk id="3" creationId="{6E5FE501-52FC-9663-175F-EE814939F785}"/>
          </ac:spMkLst>
        </pc:spChg>
        <pc:spChg chg="add mod">
          <ac:chgData name="Fizza Maira" userId="d0a25a6f-4008-4c86-8740-27856525f3e1" providerId="ADAL" clId="{A44FACB3-3A32-418A-B1D8-F602B668736A}" dt="2026-08-06T06:59:42.372" v="125" actId="1036"/>
          <ac:spMkLst>
            <pc:docMk/>
            <pc:sldMk cId="0" sldId="257"/>
            <ac:spMk id="5" creationId="{F18859DA-4EBF-86FB-39DA-CC40AEFAA531}"/>
          </ac:spMkLst>
        </pc:spChg>
        <pc:spChg chg="add del mod">
          <ac:chgData name="Fizza Maira" userId="d0a25a6f-4008-4c86-8740-27856525f3e1" providerId="ADAL" clId="{A44FACB3-3A32-418A-B1D8-F602B668736A}" dt="2026-08-06T06:56:56.706" v="71" actId="478"/>
          <ac:spMkLst>
            <pc:docMk/>
            <pc:sldMk cId="0" sldId="257"/>
            <ac:spMk id="7" creationId="{47ACB267-F7CA-D45F-F1B9-E208296EE326}"/>
          </ac:spMkLst>
        </pc:spChg>
        <pc:spChg chg="add del mod">
          <ac:chgData name="Fizza Maira" userId="d0a25a6f-4008-4c86-8740-27856525f3e1" providerId="ADAL" clId="{A44FACB3-3A32-418A-B1D8-F602B668736A}" dt="2026-08-06T06:56:52.400" v="70" actId="478"/>
          <ac:spMkLst>
            <pc:docMk/>
            <pc:sldMk cId="0" sldId="257"/>
            <ac:spMk id="9" creationId="{8C2CC35A-C1C4-C9E7-86A2-232A1BAC361B}"/>
          </ac:spMkLst>
        </pc:spChg>
      </pc:sldChg>
      <pc:sldChg chg="addSp delSp modSp mod">
        <pc:chgData name="Fizza Maira" userId="d0a25a6f-4008-4c86-8740-27856525f3e1" providerId="ADAL" clId="{A44FACB3-3A32-418A-B1D8-F602B668736A}" dt="2026-08-06T07:07:56.465" v="389" actId="1035"/>
        <pc:sldMkLst>
          <pc:docMk/>
          <pc:sldMk cId="0" sldId="258"/>
        </pc:sldMkLst>
        <pc:spChg chg="add mod">
          <ac:chgData name="Fizza Maira" userId="d0a25a6f-4008-4c86-8740-27856525f3e1" providerId="ADAL" clId="{A44FACB3-3A32-418A-B1D8-F602B668736A}" dt="2026-08-06T07:07:56.465" v="389" actId="1035"/>
          <ac:spMkLst>
            <pc:docMk/>
            <pc:sldMk cId="0" sldId="258"/>
            <ac:spMk id="3" creationId="{9809ED82-7865-1E75-8005-E3EE187972A9}"/>
          </ac:spMkLst>
        </pc:spChg>
        <pc:spChg chg="add del">
          <ac:chgData name="Fizza Maira" userId="d0a25a6f-4008-4c86-8740-27856525f3e1" providerId="ADAL" clId="{A44FACB3-3A32-418A-B1D8-F602B668736A}" dt="2026-08-06T06:57:33.761" v="75" actId="22"/>
          <ac:spMkLst>
            <pc:docMk/>
            <pc:sldMk cId="0" sldId="258"/>
            <ac:spMk id="5" creationId="{8F03CF5C-94F2-6975-E3F3-1B4B69AD5D5D}"/>
          </ac:spMkLst>
        </pc:spChg>
        <pc:spChg chg="add del mod">
          <ac:chgData name="Fizza Maira" userId="d0a25a6f-4008-4c86-8740-27856525f3e1" providerId="ADAL" clId="{A44FACB3-3A32-418A-B1D8-F602B668736A}" dt="2026-08-06T06:58:06.206" v="84" actId="21"/>
          <ac:spMkLst>
            <pc:docMk/>
            <pc:sldMk cId="0" sldId="258"/>
            <ac:spMk id="7" creationId="{22D905D9-AAC5-3957-E29C-1F3E78727844}"/>
          </ac:spMkLst>
        </pc:spChg>
        <pc:spChg chg="add mod">
          <ac:chgData name="Fizza Maira" userId="d0a25a6f-4008-4c86-8740-27856525f3e1" providerId="ADAL" clId="{A44FACB3-3A32-418A-B1D8-F602B668736A}" dt="2026-08-06T07:07:18.056" v="299" actId="12788"/>
          <ac:spMkLst>
            <pc:docMk/>
            <pc:sldMk cId="0" sldId="258"/>
            <ac:spMk id="9" creationId="{73F3F64E-BE4D-D3DF-57D5-BF67AE1E9EDD}"/>
          </ac:spMkLst>
        </pc:spChg>
      </pc:sldChg>
      <pc:sldChg chg="addSp modSp new mod">
        <pc:chgData name="Fizza Maira" userId="d0a25a6f-4008-4c86-8740-27856525f3e1" providerId="ADAL" clId="{A44FACB3-3A32-418A-B1D8-F602B668736A}" dt="2026-08-06T07:08:22.098" v="420" actId="1035"/>
        <pc:sldMkLst>
          <pc:docMk/>
          <pc:sldMk cId="3289224814" sldId="259"/>
        </pc:sldMkLst>
        <pc:spChg chg="add mod">
          <ac:chgData name="Fizza Maira" userId="d0a25a6f-4008-4c86-8740-27856525f3e1" providerId="ADAL" clId="{A44FACB3-3A32-418A-B1D8-F602B668736A}" dt="2026-08-06T07:08:22.098" v="420" actId="1035"/>
          <ac:spMkLst>
            <pc:docMk/>
            <pc:sldMk cId="3289224814" sldId="259"/>
            <ac:spMk id="3" creationId="{31AE4673-2310-7768-CAFE-C71E228846A7}"/>
          </ac:spMkLst>
        </pc:spChg>
        <pc:spChg chg="add mod">
          <ac:chgData name="Fizza Maira" userId="d0a25a6f-4008-4c86-8740-27856525f3e1" providerId="ADAL" clId="{A44FACB3-3A32-418A-B1D8-F602B668736A}" dt="2026-08-06T07:07:48.107" v="348" actId="20577"/>
          <ac:spMkLst>
            <pc:docMk/>
            <pc:sldMk cId="3289224814" sldId="259"/>
            <ac:spMk id="5" creationId="{98CF4003-6B2E-87CF-2817-76889C6135B4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0:21.214" v="482"/>
        <pc:sldMkLst>
          <pc:docMk/>
          <pc:sldMk cId="3987153470" sldId="260"/>
        </pc:sldMkLst>
        <pc:spChg chg="add mod">
          <ac:chgData name="Fizza Maira" userId="d0a25a6f-4008-4c86-8740-27856525f3e1" providerId="ADAL" clId="{A44FACB3-3A32-418A-B1D8-F602B668736A}" dt="2026-08-06T07:09:54.338" v="481" actId="1076"/>
          <ac:spMkLst>
            <pc:docMk/>
            <pc:sldMk cId="3987153470" sldId="260"/>
            <ac:spMk id="3" creationId="{FBE09B85-CBAA-6E41-F9C1-5D0C62D32631}"/>
          </ac:spMkLst>
        </pc:spChg>
        <pc:spChg chg="add mod">
          <ac:chgData name="Fizza Maira" userId="d0a25a6f-4008-4c86-8740-27856525f3e1" providerId="ADAL" clId="{A44FACB3-3A32-418A-B1D8-F602B668736A}" dt="2026-08-06T07:10:21.214" v="482"/>
          <ac:spMkLst>
            <pc:docMk/>
            <pc:sldMk cId="3987153470" sldId="260"/>
            <ac:spMk id="5" creationId="{E2D08B99-26E8-96E3-B453-DEED97ED3C1F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1:25.705" v="519" actId="1076"/>
        <pc:sldMkLst>
          <pc:docMk/>
          <pc:sldMk cId="684907484" sldId="261"/>
        </pc:sldMkLst>
        <pc:spChg chg="add mod">
          <ac:chgData name="Fizza Maira" userId="d0a25a6f-4008-4c86-8740-27856525f3e1" providerId="ADAL" clId="{A44FACB3-3A32-418A-B1D8-F602B668736A}" dt="2026-08-06T07:11:25.705" v="519" actId="1076"/>
          <ac:spMkLst>
            <pc:docMk/>
            <pc:sldMk cId="684907484" sldId="261"/>
            <ac:spMk id="3" creationId="{F6631922-EDA2-CA93-9A0A-C814D5C410DE}"/>
          </ac:spMkLst>
        </pc:spChg>
        <pc:spChg chg="add mod">
          <ac:chgData name="Fizza Maira" userId="d0a25a6f-4008-4c86-8740-27856525f3e1" providerId="ADAL" clId="{A44FACB3-3A32-418A-B1D8-F602B668736A}" dt="2026-08-06T07:10:54.305" v="515"/>
          <ac:spMkLst>
            <pc:docMk/>
            <pc:sldMk cId="684907484" sldId="261"/>
            <ac:spMk id="5" creationId="{BC92D5CD-CEED-CAF9-8E1C-650675A313C3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2:09.100" v="557" actId="1076"/>
        <pc:sldMkLst>
          <pc:docMk/>
          <pc:sldMk cId="2040043498" sldId="262"/>
        </pc:sldMkLst>
        <pc:spChg chg="add mod">
          <ac:chgData name="Fizza Maira" userId="d0a25a6f-4008-4c86-8740-27856525f3e1" providerId="ADAL" clId="{A44FACB3-3A32-418A-B1D8-F602B668736A}" dt="2026-08-06T07:12:09.100" v="557" actId="1076"/>
          <ac:spMkLst>
            <pc:docMk/>
            <pc:sldMk cId="2040043498" sldId="262"/>
            <ac:spMk id="3" creationId="{158013A2-70CA-8E35-F3F3-F40CD428166B}"/>
          </ac:spMkLst>
        </pc:spChg>
        <pc:spChg chg="add mod">
          <ac:chgData name="Fizza Maira" userId="d0a25a6f-4008-4c86-8740-27856525f3e1" providerId="ADAL" clId="{A44FACB3-3A32-418A-B1D8-F602B668736A}" dt="2026-08-06T07:11:53.354" v="555"/>
          <ac:spMkLst>
            <pc:docMk/>
            <pc:sldMk cId="2040043498" sldId="262"/>
            <ac:spMk id="5" creationId="{688822D8-D529-2998-D46B-41BB9F87B091}"/>
          </ac:spMkLst>
        </pc:spChg>
      </pc:sldChg>
      <pc:sldChg chg="addSp modSp new mod">
        <pc:chgData name="Fizza Maira" userId="d0a25a6f-4008-4c86-8740-27856525f3e1" providerId="ADAL" clId="{A44FACB3-3A32-418A-B1D8-F602B668736A}" dt="2026-08-06T07:13:10.115" v="595" actId="1076"/>
        <pc:sldMkLst>
          <pc:docMk/>
          <pc:sldMk cId="3937486198" sldId="263"/>
        </pc:sldMkLst>
        <pc:spChg chg="add mod">
          <ac:chgData name="Fizza Maira" userId="d0a25a6f-4008-4c86-8740-27856525f3e1" providerId="ADAL" clId="{A44FACB3-3A32-418A-B1D8-F602B668736A}" dt="2026-08-06T07:13:10.115" v="595" actId="1076"/>
          <ac:spMkLst>
            <pc:docMk/>
            <pc:sldMk cId="3937486198" sldId="263"/>
            <ac:spMk id="3" creationId="{460254CD-0903-966C-40EF-C5EBA490158C}"/>
          </ac:spMkLst>
        </pc:spChg>
        <pc:spChg chg="add mod">
          <ac:chgData name="Fizza Maira" userId="d0a25a6f-4008-4c86-8740-27856525f3e1" providerId="ADAL" clId="{A44FACB3-3A32-418A-B1D8-F602B668736A}" dt="2026-08-06T07:12:49.659" v="592"/>
          <ac:spMkLst>
            <pc:docMk/>
            <pc:sldMk cId="3937486198" sldId="263"/>
            <ac:spMk id="5" creationId="{7FE4D497-87C5-39D6-FAF0-4FE272E0EB7E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262626"/>
                </a:solidFill>
                <a:latin typeface="Calibri"/>
              </a:rPr>
              <a:t>Judge pass rate (of 4, mean of 3 runs)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Judge pass rate (of 4, mean of 3 runs)</c:v>
                </c:pt>
              </c:strCache>
            </c:strRef>
          </c:tx>
          <c:dPt>
            <c:idx val="0"/>
            <c:spPr>
              <a:solidFill>
                <a:srgbClr val="8A8A8A"/>
              </a:solidFill>
            </c:spPr>
          </c:dPt>
          <c:dPt>
            <c:idx val="1"/>
            <c:spPr>
              <a:solidFill>
                <a:srgbClr val="8A8A8A"/>
              </a:solidFill>
            </c:spPr>
          </c:dPt>
          <c:dPt>
            <c:idx val="2"/>
            <c:spPr>
              <a:solidFill>
                <a:srgbClr val="8A8A8A"/>
              </a:solidFill>
            </c:spPr>
          </c:dPt>
          <c:dPt>
            <c:idx val="3"/>
            <c:spPr>
              <a:solidFill>
                <a:srgbClr val="8A8A8A"/>
              </a:solidFill>
            </c:spPr>
          </c:dPt>
          <c:dPt>
            <c:idx val="4"/>
            <c:spPr>
              <a:solidFill>
                <a:srgbClr val="A31F34"/>
              </a:solidFill>
            </c:spPr>
          </c:dPt>
          <c:cat>
            <c:strRef>
              <c:f>Sheet1!$A$2:$A$6</c:f>
              <c:strCache>
                <c:ptCount val="5"/>
                <c:pt idx="0">
                  <c:v>Baseline k=5</c:v>
                </c:pt>
                <c:pt idx="1">
                  <c:v>Baseline k=8</c:v>
                </c:pt>
                <c:pt idx="2">
                  <c:v>Decompose only</c:v>
                </c:pt>
                <c:pt idx="3">
                  <c:v>Graph only</c:v>
                </c:pt>
                <c:pt idx="4">
                  <c:v>Advanced (4.1)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</c:v>
                </c:pt>
                <c:pt idx="1">
                  <c:v>1.0</c:v>
                </c:pt>
                <c:pt idx="2">
                  <c:v>0.67</c:v>
                </c:pt>
                <c:pt idx="3">
                  <c:v>1.0</c:v>
                </c:pt>
                <c:pt idx="4">
                  <c:v>3.0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262626"/>
                </a:solidFill>
                <a:latin typeface="Calibri"/>
              </a:rPr>
              <a:t>Answer evidence reaching the LLM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Answer evidence reaching the LLM</c:v>
                </c:pt>
              </c:strCache>
            </c:strRef>
          </c:tx>
          <c:dPt>
            <c:idx val="0"/>
            <c:spPr>
              <a:solidFill>
                <a:srgbClr val="8A8A8A"/>
              </a:solidFill>
            </c:spPr>
          </c:dPt>
          <c:dPt>
            <c:idx val="1"/>
            <c:spPr>
              <a:solidFill>
                <a:srgbClr val="8A8A8A"/>
              </a:solidFill>
            </c:spPr>
          </c:dPt>
          <c:dPt>
            <c:idx val="2"/>
            <c:spPr>
              <a:solidFill>
                <a:srgbClr val="8A8A8A"/>
              </a:solidFill>
            </c:spPr>
          </c:dPt>
          <c:dPt>
            <c:idx val="3"/>
            <c:spPr>
              <a:solidFill>
                <a:srgbClr val="8A8A8A"/>
              </a:solidFill>
            </c:spPr>
          </c:dPt>
          <c:dPt>
            <c:idx val="4"/>
            <c:spPr>
              <a:solidFill>
                <a:srgbClr val="A31F34"/>
              </a:solidFill>
            </c:spPr>
          </c:dPt>
          <c:cat>
            <c:strRef>
              <c:f>Sheet1!$A$2:$A$6</c:f>
              <c:strCache>
                <c:ptCount val="5"/>
                <c:pt idx="0">
                  <c:v>Baseline k=5</c:v>
                </c:pt>
                <c:pt idx="1">
                  <c:v>Baseline k=8</c:v>
                </c:pt>
                <c:pt idx="2">
                  <c:v>Decompose only</c:v>
                </c:pt>
                <c:pt idx="3">
                  <c:v>Graph only</c:v>
                </c:pt>
                <c:pt idx="4">
                  <c:v>Advanced (4.1)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</c:v>
                </c:pt>
                <c:pt idx="1">
                  <c:v>0.22</c:v>
                </c:pt>
                <c:pt idx="2">
                  <c:v>0.3</c:v>
                </c:pt>
                <c:pt idx="3">
                  <c:v>0.33</c:v>
                </c:pt>
                <c:pt idx="4">
                  <c:v>0.78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8A8A"/>
            </a:solidFill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Calibri"/>
              </a:rPr>
              <a:t>7.1 run on the 2.1 retriever: questions passed (of 5 per category)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Hardened (7.1)</c:v>
                </c:pt>
              </c:strCache>
            </c:strRef>
          </c:tx>
          <c:spPr>
            <a:solidFill>
              <a:srgbClr val="A31F34"/>
            </a:solidFill>
          </c:spPr>
          <c:cat>
            <c:strRef>
              <c:f>Sheet1!$A$2:$A$8</c:f>
              <c:strCache>
                <c:ptCount val="7"/>
                <c:pt idx="0">
                  <c:v>Single paper</c:v>
                </c:pt>
                <c:pt idx="1">
                  <c:v>Cross paper</c:v>
                </c:pt>
                <c:pt idx="2">
                  <c:v>Trends</c:v>
                </c:pt>
                <c:pt idx="3">
                  <c:v>Multi-turn</c:v>
                </c:pt>
                <c:pt idx="4">
                  <c:v>Quotes</c:v>
                </c:pt>
                <c:pt idx="5">
                  <c:v>Not in collection</c:v>
                </c:pt>
                <c:pt idx="6">
                  <c:v>Red team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Plain direct path</c:v>
                </c:pt>
              </c:strCache>
            </c:strRef>
          </c:tx>
          <c:spPr>
            <a:solidFill>
              <a:srgbClr val="8A8A8A"/>
            </a:solidFill>
          </c:spPr>
          <c:cat>
            <c:strRef>
              <c:f>Sheet1!$A$2:$A$8</c:f>
              <c:strCache>
                <c:ptCount val="7"/>
                <c:pt idx="0">
                  <c:v>Single paper</c:v>
                </c:pt>
                <c:pt idx="1">
                  <c:v>Cross paper</c:v>
                </c:pt>
                <c:pt idx="2">
                  <c:v>Trends</c:v>
                </c:pt>
                <c:pt idx="3">
                  <c:v>Multi-turn</c:v>
                </c:pt>
                <c:pt idx="4">
                  <c:v>Quotes</c:v>
                </c:pt>
                <c:pt idx="5">
                  <c:v>Not in collection</c:v>
                </c:pt>
                <c:pt idx="6">
                  <c:v>Red team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1</c:v>
                </c:pt>
                <c:pt idx="2">
                  <c:v>0</c:v>
                </c:pt>
                <c:pt idx="3">
                  <c:v>3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Calibri"/>
              </a:rPr>
              <a:t>Questions passed (of 5 per category, mean of 3 runs)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A: 4.1 pipeline + 7.1</c:v>
                </c:pt>
              </c:strCache>
            </c:strRef>
          </c:tx>
          <c:spPr>
            <a:solidFill>
              <a:srgbClr val="2F5D8A"/>
            </a:solidFill>
          </c:spPr>
          <c:cat>
            <c:strRef>
              <c:f>Sheet1!$A$2:$A$8</c:f>
              <c:strCache>
                <c:ptCount val="7"/>
                <c:pt idx="0">
                  <c:v>Single paper</c:v>
                </c:pt>
                <c:pt idx="1">
                  <c:v>Cross paper</c:v>
                </c:pt>
                <c:pt idx="2">
                  <c:v>Trends</c:v>
                </c:pt>
                <c:pt idx="3">
                  <c:v>Multi-turn</c:v>
                </c:pt>
                <c:pt idx="4">
                  <c:v>Quotes</c:v>
                </c:pt>
                <c:pt idx="5">
                  <c:v>Not in collection</c:v>
                </c:pt>
                <c:pt idx="6">
                  <c:v>Red team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5.0</c:v>
                </c:pt>
                <c:pt idx="1">
                  <c:v>1.0</c:v>
                </c:pt>
                <c:pt idx="2">
                  <c:v>0.0</c:v>
                </c:pt>
                <c:pt idx="3">
                  <c:v>3.3</c:v>
                </c:pt>
                <c:pt idx="4">
                  <c:v>2.7</c:v>
                </c:pt>
                <c:pt idx="5">
                  <c:v>5.0</c:v>
                </c:pt>
                <c:pt idx="6">
                  <c:v>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B: 5.1 agent + 7.1</c:v>
                </c:pt>
              </c:strCache>
            </c:strRef>
          </c:tx>
          <c:spPr>
            <a:solidFill>
              <a:srgbClr val="A31F34"/>
            </a:solidFill>
          </c:spPr>
          <c:cat>
            <c:strRef>
              <c:f>Sheet1!$A$2:$A$8</c:f>
              <c:strCache>
                <c:ptCount val="7"/>
                <c:pt idx="0">
                  <c:v>Single paper</c:v>
                </c:pt>
                <c:pt idx="1">
                  <c:v>Cross paper</c:v>
                </c:pt>
                <c:pt idx="2">
                  <c:v>Trends</c:v>
                </c:pt>
                <c:pt idx="3">
                  <c:v>Multi-turn</c:v>
                </c:pt>
                <c:pt idx="4">
                  <c:v>Quotes</c:v>
                </c:pt>
                <c:pt idx="5">
                  <c:v>Not in collection</c:v>
                </c:pt>
                <c:pt idx="6">
                  <c:v>Red team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4.7</c:v>
                </c:pt>
                <c:pt idx="1">
                  <c:v>2.7</c:v>
                </c:pt>
                <c:pt idx="2">
                  <c:v>0.7</c:v>
                </c:pt>
                <c:pt idx="3">
                  <c:v>2.3</c:v>
                </c:pt>
                <c:pt idx="4">
                  <c:v>3.7</c:v>
                </c:pt>
                <c:pt idx="5">
                  <c:v>5.0</c:v>
                </c:pt>
                <c:pt idx="6">
                  <c:v>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19600"/>
            <a:ext cx="12192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30830" y="3686830"/>
            <a:ext cx="1905000" cy="522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97369" y="6362197"/>
            <a:ext cx="960461" cy="3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Blank">
  <p:cSld name="7_Blank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7"/>
          <p:cNvPicPr preferRelativeResize="0"/>
          <p:nvPr/>
        </p:nvPicPr>
        <p:blipFill rotWithShape="1">
          <a:blip r:embed="rId2">
            <a:alphaModFix amt="5000"/>
          </a:blip>
          <a:srcRect/>
          <a:stretch/>
        </p:blipFill>
        <p:spPr>
          <a:xfrm>
            <a:off x="3976469" y="2607021"/>
            <a:ext cx="4239062" cy="1643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5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Relationship Id="rId3" Type="http://schemas.openxmlformats.org/officeDocument/2006/relationships/hyperlink" Target="https://github.com/Tsingh315/llm-rag-capstone/blob/main/Capstone_Checkpoint_7.1/testset_7_1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4.xml"/><Relationship Id="rId3" Type="http://schemas.openxmlformats.org/officeDocument/2006/relationships/hyperlink" Target="https://github.com/Tsingh315/llm-rag-capstone/blob/main/Capstone_Checkpoint_8.1/checkpoint_8_1_result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100000" flip="none" algn="tl"/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/>
        </p:nvSpPr>
        <p:spPr>
          <a:xfrm>
            <a:off x="261257" y="5321712"/>
            <a:ext cx="10896599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IN" sz="28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Capstone</a:t>
            </a:r>
            <a:r>
              <a:rPr lang="en-IN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Design Review Presentation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FE501-52FC-9663-175F-EE814939F785}"/>
              </a:ext>
            </a:extLst>
          </p:cNvPr>
          <p:cNvSpPr txBox="1"/>
          <p:nvPr/>
        </p:nvSpPr>
        <p:spPr>
          <a:xfrm>
            <a:off x="859972" y="2488225"/>
            <a:ext cx="10472057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r>
              <a:rPr lang="en-IN" dirty="0"/>
              <a:t>Designing and Evaluating a Retrieval-Augmented LLM System</a:t>
            </a:r>
          </a:p>
          <a:p>
            <a:pPr algn="ctr"/>
            <a:r>
              <a:rPr lang="en-IN" dirty="0"/>
              <a:t>Tarundeep Singh | Research Paper Navigator</a:t>
            </a: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8A8A"/>
                </a:solidFill>
                <a:latin typeface="Calibri"/>
              </a:rPr>
              <a:t>Question  →  Plan  →  Graph retrieval  →  Quoted answer  →  Guarded &amp; cached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F3F64E-BE4D-D3DF-57D5-BF67AE1E9EDD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Problem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017520" cy="1097280"/>
          </a:xfrm>
          <a:prstGeom prst="roundRect">
            <a:avLst/>
          </a:prstGeom>
          <a:solidFill>
            <a:srgbClr val="A3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Researcher / engineer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needs to check one claim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94760" y="1965960"/>
            <a:ext cx="502920" cy="2743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017520" cy="10972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62626"/>
                </a:solidFill>
                <a:latin typeface="Calibri"/>
              </a:rPr>
              <a:t>~153 papers</a:t>
            </a:r>
          </a:p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2009 - 2026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89520" y="1965960"/>
            <a:ext cx="502920" cy="27432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291840" cy="10972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 quoted, checkable answer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with its source paper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31F34"/>
                </a:solidFill>
                <a:latin typeface="Calibri"/>
              </a:rPr>
              <a:t>What the system must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3520440" cy="6400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Single-paper 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429000"/>
            <a:ext cx="3520440" cy="6400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Cross-paper comparison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3429000"/>
            <a:ext cx="3520440" cy="6400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Trends over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06240"/>
            <a:ext cx="3520440" cy="6400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Multi-turn follow-ups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206240"/>
            <a:ext cx="3520440" cy="6400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Grounded quotes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206240"/>
            <a:ext cx="3520440" cy="6400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'Not in the collection'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120640"/>
            <a:ext cx="539496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A31F34"/>
                </a:solidFill>
                <a:latin typeface="Calibri"/>
              </a:rPr>
              <a:t>Checkpoint 1.1: the base model</a:t>
            </a:r>
          </a:p>
          <a:p>
            <a:pPr algn="ctr"/>
            <a:r>
              <a:rPr sz="1600" b="0">
                <a:solidFill>
                  <a:srgbClr val="A31F34"/>
                </a:solidFill>
                <a:latin typeface="Calibri"/>
              </a:rPr>
              <a:t>fabricated a convincing quote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5120640"/>
            <a:ext cx="530352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62626"/>
                </a:solidFill>
                <a:latin typeface="Calibri"/>
              </a:rPr>
              <a:t>So every answer must be retrieved,</a:t>
            </a:r>
          </a:p>
          <a:p>
            <a:pPr algn="ctr"/>
            <a:r>
              <a:rPr sz="1600" b="0">
                <a:solidFill>
                  <a:srgbClr val="262626"/>
                </a:solidFill>
                <a:latin typeface="Calibri"/>
              </a:rPr>
              <a:t>quoted and traceable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CF4003-6B2E-87CF-2817-76889C6135B4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920240" cy="9601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Question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399031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50592" y="1856231"/>
            <a:ext cx="356616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508760"/>
            <a:ext cx="1920240" cy="960120"/>
          </a:xfrm>
          <a:prstGeom prst="roundRect">
            <a:avLst/>
          </a:prstGeom>
          <a:solidFill>
            <a:srgbClr val="A3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Sanitize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+ XML boundary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399031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82312" y="1856231"/>
            <a:ext cx="356616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66360" y="1508760"/>
            <a:ext cx="1920240" cy="960120"/>
          </a:xfrm>
          <a:prstGeom prst="roundRect">
            <a:avLst/>
          </a:prstGeom>
          <a:solidFill>
            <a:srgbClr val="A3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Cache check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(exact match)</a:t>
            </a:r>
          </a:p>
        </p:txBody>
      </p:sp>
      <p:sp>
        <p:nvSpPr>
          <p:cNvPr id="13" name="Oval 12"/>
          <p:cNvSpPr/>
          <p:nvPr/>
        </p:nvSpPr>
        <p:spPr>
          <a:xfrm>
            <a:off x="5074920" y="1399031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14032" y="1856231"/>
            <a:ext cx="356616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0" y="1508760"/>
            <a:ext cx="1920240" cy="9601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Agent PLAN (B only)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A skips this step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1399031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445752" y="1856231"/>
            <a:ext cx="356616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29800" y="1508760"/>
            <a:ext cx="1920240" cy="9601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Decompose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into sub-queries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1399031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607040" y="2514600"/>
            <a:ext cx="365760" cy="502920"/>
          </a:xfrm>
          <a:prstGeom prst="down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3108960"/>
            <a:ext cx="1920240" cy="960120"/>
          </a:xfrm>
          <a:prstGeom prst="roundRect">
            <a:avLst/>
          </a:prstGeom>
          <a:solidFill>
            <a:srgbClr val="A3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Refusal guard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+ log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2999232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2450592" y="3456432"/>
            <a:ext cx="356616" cy="256032"/>
          </a:xfrm>
          <a:prstGeom prst="lef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834640" y="3108960"/>
            <a:ext cx="1920240" cy="9601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LLM answers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with quotes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0" y="2999232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4782312" y="3456432"/>
            <a:ext cx="356616" cy="256032"/>
          </a:xfrm>
          <a:prstGeom prst="lef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66360" y="3108960"/>
            <a:ext cx="1920240" cy="9601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8 passages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5 primary + 3 context</a:t>
            </a:r>
          </a:p>
        </p:txBody>
      </p:sp>
      <p:sp>
        <p:nvSpPr>
          <p:cNvPr id="28" name="Oval 27"/>
          <p:cNvSpPr/>
          <p:nvPr/>
        </p:nvSpPr>
        <p:spPr>
          <a:xfrm>
            <a:off x="5074920" y="2999232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7114032" y="3456432"/>
            <a:ext cx="356616" cy="256032"/>
          </a:xfrm>
          <a:prstGeom prst="lef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0" y="3108960"/>
            <a:ext cx="1920240" cy="9601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Graph hops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paper → passages</a:t>
            </a:r>
          </a:p>
        </p:txBody>
      </p:sp>
      <p:sp>
        <p:nvSpPr>
          <p:cNvPr id="31" name="Oval 30"/>
          <p:cNvSpPr/>
          <p:nvPr/>
        </p:nvSpPr>
        <p:spPr>
          <a:xfrm>
            <a:off x="7406640" y="2999232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Left Arrow 31"/>
          <p:cNvSpPr/>
          <p:nvPr/>
        </p:nvSpPr>
        <p:spPr>
          <a:xfrm>
            <a:off x="9445752" y="3456432"/>
            <a:ext cx="356616" cy="256032"/>
          </a:xfrm>
          <a:prstGeom prst="lef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29800" y="3108960"/>
            <a:ext cx="1920240" cy="96012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Hybrid search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BM25 + vector</a:t>
            </a:r>
          </a:p>
        </p:txBody>
      </p:sp>
      <p:sp>
        <p:nvSpPr>
          <p:cNvPr id="34" name="Oval 33"/>
          <p:cNvSpPr/>
          <p:nvPr/>
        </p:nvSpPr>
        <p:spPr>
          <a:xfrm>
            <a:off x="9738360" y="2999232"/>
            <a:ext cx="310896" cy="310896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526280"/>
            <a:ext cx="5120640" cy="4572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A31F34"/>
                </a:solidFill>
                <a:latin typeface="Calibri"/>
              </a:rPr>
              <a:t>Red = safeguards and cost controls added in 7.1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Calibri"/>
              </a:rPr>
              <a:t>The paper graph behind retrieval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" y="5440680"/>
            <a:ext cx="1645920" cy="868680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148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papers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39" name="Oval 38"/>
          <p:cNvSpPr/>
          <p:nvPr/>
        </p:nvSpPr>
        <p:spPr>
          <a:xfrm>
            <a:off x="2606039" y="5440680"/>
            <a:ext cx="1645920" cy="868680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8,087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chunks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59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A8A8A"/>
                </a:solidFill>
                <a:latin typeface="Calibri"/>
              </a:rPr>
              <a:t>—</a:t>
            </a:r>
          </a:p>
        </p:txBody>
      </p:sp>
      <p:sp>
        <p:nvSpPr>
          <p:cNvPr id="41" name="Oval 40"/>
          <p:cNvSpPr/>
          <p:nvPr/>
        </p:nvSpPr>
        <p:spPr>
          <a:xfrm>
            <a:off x="4709159" y="5440680"/>
            <a:ext cx="1645920" cy="868680"/>
          </a:xfrm>
          <a:prstGeom prst="ellipse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458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0749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Calibri"/>
              </a:rPr>
              <a:t>Edges: has_chunk, next_chunk (reading order), duplicate_of (29 copies merged), introduces, compares_against</a:t>
            </a:r>
          </a:p>
        </p:txBody>
      </p:sp>
    </p:spTree>
    <p:extLst>
      <p:ext uri="{BB962C8B-B14F-4D97-AF65-F5344CB8AC3E}">
        <p14:creationId xmlns:p14="http://schemas.microsoft.com/office/powerpoint/2010/main" val="328922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D08B99-26E8-96E3-B453-DEED97ED3C1F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Retrieval and Evaluation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56692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0" y="1371600"/>
          <a:ext cx="54864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49240"/>
            <a:ext cx="3566160" cy="91440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Agent (5.1): 3.67 / 7 passes</a:t>
            </a:r>
          </a:p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ties fixed 4.1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349240"/>
            <a:ext cx="3566160" cy="91440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Evidence 69% vs 58%</a:t>
            </a:r>
          </a:p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for one extra LLM call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349240"/>
            <a:ext cx="356616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A31F34"/>
                </a:solidFill>
                <a:latin typeface="Calibri"/>
              </a:rPr>
              <a:t>Fails for every system:</a:t>
            </a:r>
          </a:p>
          <a:p>
            <a:pPr algn="ctr"/>
            <a:r>
              <a:rPr sz="1500" b="0">
                <a:solidFill>
                  <a:srgbClr val="A31F34"/>
                </a:solidFill>
                <a:latin typeface="Calibri"/>
              </a:rPr>
              <a:t>Q2 (multi-paper) and Q6</a:t>
            </a:r>
          </a:p>
        </p:txBody>
      </p:sp>
    </p:spTree>
    <p:extLst>
      <p:ext uri="{BB962C8B-B14F-4D97-AF65-F5344CB8AC3E}">
        <p14:creationId xmlns:p14="http://schemas.microsoft.com/office/powerpoint/2010/main" val="398715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C92D5CD-CEED-CAF9-8E1C-650675A313C3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Engineering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697480" cy="274320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31F34"/>
                </a:solidFill>
                <a:latin typeface="Calibri"/>
              </a:rPr>
              <a:t>42% → 62%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Focus rule (5.1): retrieve inside the named papers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37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8A"/>
                </a:solidFill>
                <a:latin typeface="Calibri"/>
              </a:rPr>
              <a:t>evidence reaching the LLM on the 3 test tasks; in 8.1 cross-paper evidence is 63% (B) vs 23% (A)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08760"/>
            <a:ext cx="2697480" cy="274320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31F34"/>
                </a:solidFill>
                <a:latin typeface="Calibri"/>
              </a:rPr>
              <a:t>2.00 → 3.67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146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Gate the focus rule (5.1)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337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8A"/>
                </a:solidFill>
                <a:latin typeface="Calibri"/>
              </a:rPr>
              <a:t>applied to any named paper it broke Q4; now only when 2+ papers resolve, with a code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2697480" cy="274320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691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31F34"/>
                </a:solidFill>
                <a:latin typeface="Calibri"/>
              </a:rPr>
              <a:t>0 → 4 /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146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Refusal format enforced in code (7.1)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37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8A"/>
                </a:solidFill>
                <a:latin typeface="Calibri"/>
              </a:rPr>
              <a:t>6.1 refusals failed the format 4 of 4; both candidates now follow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08760"/>
            <a:ext cx="2697480" cy="274320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69164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31F34"/>
                </a:solidFill>
                <a:latin typeface="Calibri"/>
              </a:rPr>
              <a:t>5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51460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2626"/>
                </a:solidFill>
                <a:latin typeface="Calibri"/>
              </a:rPr>
              <a:t>Scope and refusal rule on the no-retrieval path (7.1)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33756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A8A"/>
                </a:solidFill>
                <a:latin typeface="Calibri"/>
              </a:rPr>
              <a:t>red team passes; B skips retrieval for them: 1,342 vs 2,548 input tokens for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31F34"/>
                </a:solidFill>
                <a:latin typeface="Calibri"/>
              </a:rPr>
              <a:t>Trade-offs accepted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37760"/>
            <a:ext cx="26974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Quality ↔ latency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B vs A: 24.0 vs 22.0 passes, 7.5 s vs 5.6 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4937760"/>
            <a:ext cx="26974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Quality ↔ cost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B vs A: 3,760 vs 3,407 tokens, 3.4 vs 2.4 calls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937760"/>
            <a:ext cx="26974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Security ↔ helpfulness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terse refusals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4937760"/>
            <a:ext cx="2697480" cy="1097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62626"/>
                </a:solidFill>
                <a:latin typeface="Calibri"/>
              </a:rPr>
              <a:t>Savings ↔ freshness</a:t>
            </a:r>
          </a:p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cache hit: 0 tokens vs 684 (demo), can go stale</a:t>
            </a:r>
          </a:p>
        </p:txBody>
      </p:sp>
    </p:spTree>
    <p:extLst>
      <p:ext uri="{BB962C8B-B14F-4D97-AF65-F5344CB8AC3E}">
        <p14:creationId xmlns:p14="http://schemas.microsoft.com/office/powerpoint/2010/main" val="68490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 and Future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68580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35 questions written by me, LLM-judged, 3 runs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22.0 vs 24.0 of 35 is a small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Only 5 red-team questions; P1-P10 not run on the candidates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0352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PDF parsing flattens tables and equations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42232" y="1737360"/>
            <a:ext cx="182880" cy="32004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1554480"/>
            <a:ext cx="3566160" cy="685800"/>
          </a:xfrm>
          <a:prstGeom prst="roundRect">
            <a:avLst/>
          </a:prstGeom>
          <a:solidFill>
            <a:srgbClr val="A3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42316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Multi-turn role-play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38328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Stale cache answers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34340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Sanitizer over-stripping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530352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Ambiguity answered silently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36992" y="1737360"/>
            <a:ext cx="182880" cy="320040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1554480"/>
            <a:ext cx="3566160" cy="685800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42316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Layout-aware PDF parsing (Docling, Marker, MinerU), OCR, tables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38328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Semantic cache and a model-based router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434340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Cheaper planner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5303520"/>
            <a:ext cx="3566160" cy="8229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0">
                <a:solidFill>
                  <a:srgbClr val="262626"/>
                </a:solidFill>
                <a:latin typeface="Calibri"/>
              </a:rPr>
              <a:t>Monitor in production: cache hit rate, refusal rate, tokens per query</a:t>
            </a:r>
          </a:p>
        </p:txBody>
      </p:sp>
    </p:spTree>
    <p:extLst>
      <p:ext uri="{BB962C8B-B14F-4D97-AF65-F5344CB8AC3E}">
        <p14:creationId xmlns:p14="http://schemas.microsoft.com/office/powerpoint/2010/main" val="2040043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0254CD-0903-966C-40EF-C5EBA490158C}"/>
              </a:ext>
            </a:extLst>
          </p:cNvPr>
          <p:cNvSpPr txBox="1"/>
          <p:nvPr/>
        </p:nvSpPr>
        <p:spPr>
          <a:xfrm>
            <a:off x="707571" y="1497600"/>
            <a:ext cx="914399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defRPr sz="2800" b="1">
                <a:solidFill>
                  <a:srgbClr val="A31F34"/>
                </a:solidFill>
                <a:latin typeface="Calibri"/>
                <a:ea typeface="Calibri"/>
                <a:cs typeface="Calibri"/>
              </a:defRPr>
            </a:lvl1pPr>
          </a:lstStyle>
          <a:p>
            <a:endParaRPr lang="en-IN" dirty="0"/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Thank you!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2000" b="0" dirty="0">
              <a:solidFill>
                <a:schemeClr val="tx1"/>
              </a:solidFill>
            </a:endParaRP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Be prepared to discuss: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Design rationale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Evaluation evidence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</a:rPr>
              <a:t>Engineering trade-offs</a:t>
            </a:r>
          </a:p>
          <a:p>
            <a:pPr algn="l"/>
            <a:r>
              <a:rPr lang="en-US" sz="2000" b="0" dirty="0">
                <a:solidFill>
                  <a:schemeClr val="tx1"/>
                </a:solidFill>
              </a:rPr>
              <a:t>.</a:t>
            </a:r>
          </a:p>
          <a:p>
            <a:pPr algn="l"/>
            <a:br>
              <a:rPr lang="en-IN" dirty="0"/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4D497-87C5-39D6-FAF0-4FE272E0EB7E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37486198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PDFs Were Parsed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011680" cy="10515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153 PDFs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research papers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1828800"/>
            <a:ext cx="292608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62072" y="1417320"/>
            <a:ext cx="2011680" cy="10515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Pre-flight check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pages per PDF; flag volumes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01184" y="1828800"/>
            <a:ext cx="292608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21224" y="1417320"/>
            <a:ext cx="2011680" cy="1051560"/>
          </a:xfrm>
          <a:prstGeom prst="roundRect">
            <a:avLst/>
          </a:prstGeom>
          <a:solidFill>
            <a:srgbClr val="A3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GROBID (Docker)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scholarly PDF parser; TEI XML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60336" y="1828800"/>
            <a:ext cx="292608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0376" y="1417320"/>
            <a:ext cx="2011680" cy="10515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TEI to text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title, abstract, body; references dropped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19488" y="1828800"/>
            <a:ext cx="292608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39528" y="1417320"/>
            <a:ext cx="2011680" cy="10515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papers_txt + manifest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sha256 per file; sanity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Calibri"/>
              </a:rPr>
              <a:t>What survived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017520"/>
            <a:ext cx="3474720" cy="777240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153  PDFs in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05072" y="3273552"/>
            <a:ext cx="182880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59" y="3017520"/>
            <a:ext cx="3474720" cy="777240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152  parsed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54112" y="3273552"/>
            <a:ext cx="182880" cy="256032"/>
          </a:xfrm>
          <a:prstGeom prst="right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3017520"/>
            <a:ext cx="3474720" cy="777240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148  papers indexed (8,087 chunks)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31F34"/>
                </a:solidFill>
                <a:latin typeface="Calibri"/>
              </a:rPr>
              <a:t>Limitations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43400"/>
            <a:ext cx="26974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Tables and equations flattened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(row/column meaning lost)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343400"/>
            <a:ext cx="26974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Sections not saved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(only a section count)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343400"/>
            <a:ext cx="26974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5 proceedings volumes lost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(1 failed, 4 skipped as too large)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4343400"/>
            <a:ext cx="269748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62626"/>
                </a:solidFill>
                <a:latin typeface="Calibri"/>
              </a:rPr>
              <a:t>Quality checks sample only</a:t>
            </a:r>
          </a:p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the first pages of each 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94960"/>
            <a:ext cx="11155680" cy="41148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Also: 3 papers with no title found, 29 groups of duplicate titles (conference + arXiv copies), 13 volume or front-matter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Set and Results (Full Corpus)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72237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55279" y="1417320"/>
            <a:ext cx="3749039" cy="1051560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62626"/>
                </a:solidFill>
                <a:latin typeface="Calibri"/>
              </a:rPr>
              <a:t>35 questions</a:t>
            </a:r>
          </a:p>
          <a:p>
            <a:pPr algn="ctr"/>
            <a:r>
              <a:rPr sz="1700" b="0">
                <a:solidFill>
                  <a:srgbClr val="262626"/>
                </a:solidFill>
                <a:latin typeface="Calibri"/>
              </a:rPr>
              <a:t>7 categories x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606040"/>
            <a:ext cx="3749039" cy="105156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24 / 35 hardened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23 / 35 plain direct path</a:t>
            </a:r>
          </a:p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(2.1 retriever)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794760"/>
            <a:ext cx="3749039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A31F34"/>
                </a:solidFill>
                <a:latin typeface="Calibri"/>
              </a:rPr>
              <a:t>Evidence reaching the LLM</a:t>
            </a:r>
          </a:p>
          <a:p>
            <a:pPr algn="ctr"/>
            <a:r>
              <a:rPr sz="1400" b="0">
                <a:solidFill>
                  <a:srgbClr val="A31F34"/>
                </a:solidFill>
                <a:latin typeface="Calibri"/>
              </a:rPr>
              <a:t>100% facts and quotes, ~30% cross-paper and trends</a:t>
            </a:r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457200" y="5669280"/>
            <a:ext cx="11247120" cy="640080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Test set and results: github.com/Tsingh315/llm-rag-capstone/tree/main/Capstone_Checkpoint_7.1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93776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Calibri"/>
              </a:rPr>
              <a:t>Failures are retrieval misses, not safeguards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 Metrics Captured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  <a:gridCol w="237744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 (Checkpoint 8.1 run)</a:t>
                      </a:r>
                    </a:p>
                  </a:txBody>
                  <a:tcPr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A: 4.1 + 7.1</a:t>
                      </a:r>
                    </a:p>
                  </a:txBody>
                  <a:tcPr anchor="ctr"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B: 5.1 + 7.1</a:t>
                      </a:r>
                    </a:p>
                  </a:txBody>
                  <a:tcPr anchor="ctr">
                    <a:solidFill>
                      <a:srgbClr val="A31F3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Evidence reaching the LLM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Evidence on cross-paper questions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Passes (of 35 questions)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22.0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Quotes found in retrieved 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Refusal format (27 refusal checks)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27 / 27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27 / 27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Red-team pass (of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Tokens per question, in / out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3,265 / 142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3,548 / 212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LLM calls per question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Latency per question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5.6 s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7.5 s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Paths taken (all runs)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72 single, 33 multi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62626"/>
                          </a:solidFill>
                          <a:latin typeface="Calibri"/>
                        </a:rPr>
                        <a:t>90 retrieve, 14 answer, 1 clarify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864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31F34"/>
                </a:solidFill>
                <a:latin typeface="Calibri"/>
              </a:rPr>
              <a:t>Reading them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06440"/>
            <a:ext cx="54864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A31F34"/>
                </a:solidFill>
                <a:latin typeface="Calibri"/>
              </a:rPr>
              <a:t>Evidence low and answer fails: retrieval (A cross-paper: 23%)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806440"/>
            <a:ext cx="5486400" cy="594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262626"/>
                </a:solidFill>
                <a:latin typeface="Calibri"/>
              </a:rPr>
              <a:t>Evidence high and answer fails: generation (A quotes: 100% evidence, 2.7/5 pass)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11880" cy="640080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A: 4.1 pipeline + 7.1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Improve cross-paper retrieval (23% evidence reached)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39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Improve quote selection (2.7 of 5 pass)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23360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Keep its edge: 2.4 calls, 5.6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11880" cy="6400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Both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Trend questions: 17% evidence reached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063239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Re-run probes P1-P10 on both candidates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Better PDF parsing for tables and equations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611880" cy="640080"/>
          </a:xfrm>
          <a:prstGeom prst="roundRect">
            <a:avLst/>
          </a:prstGeom>
          <a:solidFill>
            <a:srgbClr val="A31F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B: 5.1 agent + 7.1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03120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Cut cost and latency (3.4 calls, 7.5 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063239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Improve multi-turn follow-ups (2.3 of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023360"/>
            <a:ext cx="3611880" cy="841248"/>
          </a:xfrm>
          <a:prstGeom prst="roundRect">
            <a:avLst/>
          </a:prstGeom>
          <a:solidFill>
            <a:srgbClr val="F1F1F1"/>
          </a:solidFill>
          <a:ln w="1587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262626"/>
                </a:solidFill>
                <a:latin typeface="Calibri"/>
              </a:rPr>
              <a:t>Keep its edge: cross-paper evidence 63%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760720" y="5029200"/>
            <a:ext cx="640080" cy="274320"/>
          </a:xfrm>
          <a:prstGeom prst="downArrow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" y="5349240"/>
            <a:ext cx="11201400" cy="86868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Then re-run the same 35 questions on both and compare passes by category, tokens, LLM calls and latency, and pick 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Decision: Two Candidates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377440"/>
                <a:gridCol w="237744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A: 4.1 pipeline + 7.1</a:t>
                      </a:r>
                    </a:p>
                  </a:txBody>
                  <a:tcPr anchor="ctr">
                    <a:solidFill>
                      <a:srgbClr val="2F5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B: 5.1 agent + 7.1</a:t>
                      </a:r>
                    </a:p>
                  </a:txBody>
                  <a:tcPr anchor="ctr"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anchor="ctr">
                    <a:solidFill>
                      <a:srgbClr val="26262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Passes (of 35 questions, mean of 3 runs)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22.0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24.0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Red-team pass (of 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Evidence reaching the LLM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63%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69%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LLM calls per question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Tokens per question (in + out)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3,407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3,760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1F1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Latency per question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5.6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62626"/>
                          </a:solidFill>
                          <a:latin typeface="Calibri"/>
                        </a:rPr>
                        <a:t>7.5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31F34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Calibri"/>
              </a:rPr>
              <a:t>Source: Checkpoint 8.1 run, 35 questions x 3 runs, both with the 7.1 hardening. Tokens are the cost proxy. Red = better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06440"/>
            <a:ext cx="11155680" cy="594360"/>
          </a:xfrm>
          <a:prstGeom prst="round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Close overall: fine-tune both, then make the final decision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688822D8-D529-2998-D46B-41BB9F87B091}"/>
              </a:ext>
            </a:extLst>
          </p:cNvPr>
          <p:cNvSpPr txBox="1"/>
          <p:nvPr/>
        </p:nvSpPr>
        <p:spPr>
          <a:xfrm>
            <a:off x="3048000" y="60811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rgbClr val="A31F3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Candidates by Category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112471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486400"/>
            <a:ext cx="54864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31F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A31F34"/>
                </a:solidFill>
                <a:latin typeface="Calibri"/>
              </a:rPr>
              <a:t>B better: cross-paper (2.7 vs 1.0), quotes (3.7 vs 2.7)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6217920" y="5486400"/>
            <a:ext cx="5486400" cy="822960"/>
          </a:xfrm>
          <a:prstGeom prst="roundRect">
            <a:avLst/>
          </a:prstGeom>
          <a:solidFill>
            <a:srgbClr val="2F5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 better: multi-turn (3.3 vs 2.3), cheaper and faster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Results: github.com/Tsingh315/llm-rag-capstone (Capstone_Checkpoint_8.1)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IT P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58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1_MIT 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 Shilpiya</dc:creator>
  <cp:lastModifiedBy>Fizza Maira</cp:lastModifiedBy>
  <cp:revision>1</cp:revision>
  <dcterms:created xsi:type="dcterms:W3CDTF">2018-11-05T13:58:18Z</dcterms:created>
  <dcterms:modified xsi:type="dcterms:W3CDTF">2026-08-06T07:13:19Z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0x010100296DC331548237488BA9A87C5C22BBA4</vt:lpwstr>
  </property>
  <property fmtid="{D5CDD505-2E9C-101B-9397-08002B2CF9AE}" pid="3" name="ArticulateGUID">
    <vt:lpwstr>405BEB8A-A8B9-422E-86C1-391F774E521D</vt:lpwstr>
  </property>
  <property fmtid="{D5CDD505-2E9C-101B-9397-08002B2CF9AE}" pid="4" name="ArticulatePath">
    <vt:lpwstr>MIT_xPRO_PPT_Template</vt:lpwstr>
  </property>
</Properties>
</file>